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1A2E4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A2E4A"/>
                </a:solidFill>
                <a:latin typeface="Arial" panose="020B0604020202020204"/>
              </a:rPr>
              <a:t>Class Distribution — Training Set</a:t>
            </a:r>
            <a:endParaRPr sz="1100" b="0" i="0" u="none" strike="noStrike">
              <a:solidFill>
                <a:srgbClr val="1A2E4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Samples</c:v>
                </c:pt>
              </c:strCache>
            </c:strRef>
          </c:tx>
          <c:spPr>
            <a:solidFill>
              <a:srgbClr val="1A2E4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WALKING</c:v>
                </c:pt>
                <c:pt idx="1">
                  <c:v>WALK_UP</c:v>
                </c:pt>
                <c:pt idx="2">
                  <c:v>WALK_DWN</c:v>
                </c:pt>
                <c:pt idx="3">
                  <c:v>SITTING</c:v>
                </c:pt>
                <c:pt idx="4">
                  <c:v>STANDING</c:v>
                </c:pt>
                <c:pt idx="5">
                  <c:v>LAYING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1226</c:v>
                </c:pt>
                <c:pt idx="1">
                  <c:v>1073</c:v>
                </c:pt>
                <c:pt idx="2">
                  <c:v>986</c:v>
                </c:pt>
                <c:pt idx="3">
                  <c:v>1286</c:v>
                </c:pt>
                <c:pt idx="4">
                  <c:v>1374</c:v>
                </c:pt>
                <c:pt idx="5">
                  <c:v>1407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E9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8E4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E9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7955041-a818-42e5-8825-4d34e4bb1a9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 panose="020B0604020202020204"/>
              </a:rPr>
              <a:t>Accuracy &amp; F1 by Algorithm</a:t>
            </a:r>
            <a:endParaRPr sz="11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2E4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RF</c:v>
                </c:pt>
                <c:pt idx="1">
                  <c:v>RF (tuned)</c:v>
                </c:pt>
                <c:pt idx="2">
                  <c:v>LR</c:v>
                </c:pt>
                <c:pt idx="3">
                  <c:v>LR (tuned)</c:v>
                </c:pt>
                <c:pt idx="4">
                  <c:v>GBT</c:v>
                </c:pt>
                <c:pt idx="5">
                  <c:v>GBT (tuned)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0.9258</c:v>
                </c:pt>
                <c:pt idx="1">
                  <c:v>0.9385</c:v>
                </c:pt>
                <c:pt idx="2">
                  <c:v>0.9612</c:v>
                </c:pt>
                <c:pt idx="3">
                  <c:v>0.9653</c:v>
                </c:pt>
                <c:pt idx="4">
                  <c:v>0.9397</c:v>
                </c:pt>
                <c:pt idx="5">
                  <c:v>0.9442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7FB3D3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RF</c:v>
                </c:pt>
                <c:pt idx="1">
                  <c:v>RF (tuned)</c:v>
                </c:pt>
                <c:pt idx="2">
                  <c:v>LR</c:v>
                </c:pt>
                <c:pt idx="3">
                  <c:v>LR (tuned)</c:v>
                </c:pt>
                <c:pt idx="4">
                  <c:v>GBT</c:v>
                </c:pt>
                <c:pt idx="5">
                  <c:v>GBT (tuned)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0.9254</c:v>
                </c:pt>
                <c:pt idx="1">
                  <c:v>0.9382</c:v>
                </c:pt>
                <c:pt idx="2">
                  <c:v>0.961</c:v>
                </c:pt>
                <c:pt idx="3">
                  <c:v>0.9651</c:v>
                </c:pt>
                <c:pt idx="4">
                  <c:v>0.9393</c:v>
                </c:pt>
                <c:pt idx="5">
                  <c:v>0.9439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E9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8"/>
        </c:scaling>
        <c:delete val="0"/>
        <c:axPos val="l"/>
        <c:majorGridlines>
          <c:spPr>
            <a:ln w="6350" cap="flat" cmpd="sng" algn="ctr">
              <a:solidFill>
                <a:srgbClr val="D8E4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E9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aff8a662-8883-49d4-8e2d-001d366b5ad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 panose="020B0604020202020204"/>
              </a:rPr>
              <a:t>Accuracy &amp; F1 by Algorithm</a:t>
            </a:r>
            <a:endParaRPr sz="11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B2D8E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DT</c:v>
                </c:pt>
                <c:pt idx="1">
                  <c:v>DT (tuned)</c:v>
                </c:pt>
                <c:pt idx="2">
                  <c:v>FM (OvR)</c:v>
                </c:pt>
                <c:pt idx="3">
                  <c:v>FM (tuned)</c:v>
                </c:pt>
                <c:pt idx="4">
                  <c:v>MLP</c:v>
                </c:pt>
                <c:pt idx="5">
                  <c:v>MLP (tuned)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0.8738</c:v>
                </c:pt>
                <c:pt idx="1">
                  <c:v>0.8875</c:v>
                </c:pt>
                <c:pt idx="2">
                  <c:v>0.8912</c:v>
                </c:pt>
                <c:pt idx="3">
                  <c:v>0.9047</c:v>
                </c:pt>
                <c:pt idx="4">
                  <c:v>0.9521</c:v>
                </c:pt>
                <c:pt idx="5">
                  <c:v>0.9588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A87CD8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DT</c:v>
                </c:pt>
                <c:pt idx="1">
                  <c:v>DT (tuned)</c:v>
                </c:pt>
                <c:pt idx="2">
                  <c:v>FM (OvR)</c:v>
                </c:pt>
                <c:pt idx="3">
                  <c:v>FM (tuned)</c:v>
                </c:pt>
                <c:pt idx="4">
                  <c:v>MLP</c:v>
                </c:pt>
                <c:pt idx="5">
                  <c:v>MLP (tuned)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0.8731</c:v>
                </c:pt>
                <c:pt idx="1">
                  <c:v>0.8869</c:v>
                </c:pt>
                <c:pt idx="2">
                  <c:v>0.8905</c:v>
                </c:pt>
                <c:pt idx="3">
                  <c:v>0.9041</c:v>
                </c:pt>
                <c:pt idx="4">
                  <c:v>0.9518</c:v>
                </c:pt>
                <c:pt idx="5">
                  <c:v>0.9584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E9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2"/>
        </c:scaling>
        <c:delete val="0"/>
        <c:axPos val="l"/>
        <c:majorGridlines>
          <c:spPr>
            <a:ln w="6350" cap="flat" cmpd="sng" algn="ctr">
              <a:solidFill>
                <a:srgbClr val="D8E4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E9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d7ad088-e0c2-4e52-9d67-fa48bf6fa80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 panose="020B0604020202020204"/>
              </a:rPr>
              <a:t>Best Tuned Accuracy — All Algorithms</a:t>
            </a:r>
            <a:endParaRPr sz="11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Accuracy</c:v>
                </c:pt>
              </c:strCache>
            </c:strRef>
          </c:tx>
          <c:spPr>
            <a:solidFill>
              <a:srgbClr val="1A6B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6B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4A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1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6B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2D8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E2D2D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1A2E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RF (tuned)</c:v>
                </c:pt>
                <c:pt idx="1">
                  <c:v>LR (tuned)</c:v>
                </c:pt>
                <c:pt idx="2">
                  <c:v>GBT (tuned)</c:v>
                </c:pt>
                <c:pt idx="3">
                  <c:v>DT (tuned)</c:v>
                </c:pt>
                <c:pt idx="4">
                  <c:v>FM (tuned)</c:v>
                </c:pt>
                <c:pt idx="5">
                  <c:v>MLP (tuned)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0.9385</c:v>
                </c:pt>
                <c:pt idx="1">
                  <c:v>0.9653</c:v>
                </c:pt>
                <c:pt idx="2">
                  <c:v>0.9442</c:v>
                </c:pt>
                <c:pt idx="3">
                  <c:v>0.8875</c:v>
                </c:pt>
                <c:pt idx="4">
                  <c:v>0.9047</c:v>
                </c:pt>
                <c:pt idx="5">
                  <c:v>0.9588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E9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8"/>
          <c:min val="0.85"/>
        </c:scaling>
        <c:delete val="0"/>
        <c:axPos val="l"/>
        <c:majorGridlines>
          <c:spPr>
            <a:ln w="6350" cap="flat" cmpd="sng" algn="ctr">
              <a:solidFill>
                <a:srgbClr val="D8E4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E9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71d70e8-3950-4268-b008-39e60214e1c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914400"/>
            <a:ext cx="2560320" cy="31089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BDA Module 2 — Course + Project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8580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</a:rPr>
              <a:t>Human Activity</a:t>
            </a:r>
            <a:endParaRPr lang="en-US" sz="4400" dirty="0"/>
          </a:p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</a:rPr>
              <a:t>Recognition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9EE"/>
                </a:solidFill>
              </a:rPr>
              <a:t>Smartphone Sensor Data  ·  PySpark MLlib  ·  6-Class Classification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474720" cy="822960"/>
          </a:xfrm>
          <a:prstGeom prst="rect">
            <a:avLst/>
          </a:prstGeom>
          <a:solidFill>
            <a:srgbClr val="243D5C"/>
          </a:solidFill>
          <a:ln w="12700">
            <a:solidFill>
              <a:srgbClr val="7FB3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9EE"/>
                </a:solidFill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</a:rPr>
              <a:t>Muhammad Talha Sohail Chattha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1"/>
                </a:solidFill>
              </a:rPr>
              <a:t>University of Bologna  ·  2025/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Dataset — UCI HAR (Human Activity Recognition)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E91"/>
                </a:solidFill>
              </a:rPr>
              <a:t>Talha  |  HAR — Big Data Analytics Module 2  |  Slide 2   [Course Project + Project Work]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About the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E4A"/>
                </a:solidFill>
              </a:rPr>
              <a:t>Source:</a:t>
            </a:r>
            <a:r>
              <a:rPr lang="en-US" sz="1100" dirty="0">
                <a:solidFill>
                  <a:srgbClr val="1A2E4A"/>
                </a:solidFill>
              </a:rPr>
              <a:t> UCI Machine Learning Repository  HAR using Smartphones
</a:t>
            </a:r>
            <a:r>
              <a:rPr lang="en-US" sz="1100" b="1" dirty="0">
                <a:solidFill>
                  <a:srgbClr val="1A2E4A"/>
                </a:solidFill>
              </a:rPr>
              <a:t>30 volunteers</a:t>
            </a:r>
            <a:r>
              <a:rPr lang="en-US" sz="1100" dirty="0">
                <a:solidFill>
                  <a:srgbClr val="1A2E4A"/>
                </a:solidFill>
              </a:rPr>
              <a:t> aged 19-48 wore a Samsung Galaxy S II on the waist performing 6 daily activities.
</a:t>
            </a:r>
            <a:r>
              <a:rPr lang="en-US" sz="1100" b="1" dirty="0">
                <a:solidFill>
                  <a:srgbClr val="1A2E4A"/>
                </a:solidFill>
              </a:rPr>
              <a:t>Sensors:</a:t>
            </a:r>
            <a:r>
              <a:rPr lang="en-US" sz="1100" dirty="0">
                <a:solidFill>
                  <a:srgbClr val="1A2E4A"/>
                </a:solidFill>
              </a:rPr>
              <a:t> 3-axial accelerometer + gyroscope @ 50 Hz
</a:t>
            </a:r>
            <a:r>
              <a:rPr lang="en-US" sz="1100" b="1" dirty="0">
                <a:solidFill>
                  <a:srgbClr val="1A2E4A"/>
                </a:solidFill>
              </a:rPr>
              <a:t>Features:</a:t>
            </a:r>
            <a:r>
              <a:rPr lang="en-US" sz="1100" dirty="0">
                <a:solidFill>
                  <a:srgbClr val="1A2E4A"/>
                </a:solidFill>
              </a:rPr>
              <a:t> 561 time + frequency domain variables derived from raw signals.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804672"/>
            <a:ext cx="1828800" cy="1280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804672"/>
            <a:ext cx="1828800" cy="164592"/>
          </a:xfrm>
          <a:prstGeom prst="rect">
            <a:avLst/>
          </a:prstGeom>
          <a:solidFill>
            <a:srgbClr val="E8743B"/>
          </a:solidFill>
        </p:spPr>
      </p:sp>
      <p:sp>
        <p:nvSpPr>
          <p:cNvPr id="9" name="Text 7"/>
          <p:cNvSpPr/>
          <p:nvPr/>
        </p:nvSpPr>
        <p:spPr>
          <a:xfrm>
            <a:off x="4937760" y="100584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4A"/>
                </a:solidFill>
              </a:rPr>
              <a:t>10,299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37760" y="157276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1"/>
                </a:solidFill>
              </a:rPr>
              <a:t>Total Patterns 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1810512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52"/>
                </a:solidFill>
              </a:rPr>
              <a:t>N ≥ 20,000 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949440" y="804672"/>
            <a:ext cx="1828800" cy="1280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0" y="804672"/>
            <a:ext cx="1828800" cy="164592"/>
          </a:xfrm>
          <a:prstGeom prst="rect">
            <a:avLst/>
          </a:prstGeom>
          <a:solidFill>
            <a:srgbClr val="E8743B"/>
          </a:solidFill>
        </p:spPr>
      </p:sp>
      <p:sp>
        <p:nvSpPr>
          <p:cNvPr id="14" name="Text 12"/>
          <p:cNvSpPr/>
          <p:nvPr/>
        </p:nvSpPr>
        <p:spPr>
          <a:xfrm>
            <a:off x="6949440" y="100584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4A"/>
                </a:solidFill>
              </a:rPr>
              <a:t>561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49440" y="157276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1"/>
                </a:solidFill>
              </a:rPr>
              <a:t>Features  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1810512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52"/>
                </a:solidFill>
              </a:rPr>
              <a:t>p ≥ 4 ✓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37760" y="2267712"/>
            <a:ext cx="1828800" cy="1280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2267712"/>
            <a:ext cx="1828800" cy="164592"/>
          </a:xfrm>
          <a:prstGeom prst="rect">
            <a:avLst/>
          </a:prstGeom>
          <a:solidFill>
            <a:srgbClr val="E8743B"/>
          </a:solidFill>
        </p:spPr>
      </p:sp>
      <p:sp>
        <p:nvSpPr>
          <p:cNvPr id="19" name="Text 17"/>
          <p:cNvSpPr/>
          <p:nvPr/>
        </p:nvSpPr>
        <p:spPr>
          <a:xfrm>
            <a:off x="4937760" y="246888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4A"/>
                </a:solidFill>
              </a:rPr>
              <a:t>5.78 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937760" y="303580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1"/>
                </a:solidFill>
              </a:rPr>
              <a:t>Np product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273552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52"/>
                </a:solidFill>
              </a:rPr>
              <a:t>≥ 1,000,000 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949440" y="2267712"/>
            <a:ext cx="1828800" cy="1280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2267712"/>
            <a:ext cx="1828800" cy="164592"/>
          </a:xfrm>
          <a:prstGeom prst="rect">
            <a:avLst/>
          </a:prstGeom>
          <a:solidFill>
            <a:srgbClr val="E8743B"/>
          </a:solidFill>
        </p:spPr>
      </p:sp>
      <p:sp>
        <p:nvSpPr>
          <p:cNvPr id="24" name="Text 22"/>
          <p:cNvSpPr/>
          <p:nvPr/>
        </p:nvSpPr>
        <p:spPr>
          <a:xfrm>
            <a:off x="6949440" y="2468880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4A"/>
                </a:solidFill>
              </a:rPr>
              <a:t>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49440" y="303580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E91"/>
                </a:solidFill>
              </a:rPr>
              <a:t>Activity Classes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0" y="3273552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D52"/>
                </a:solidFill>
              </a:rPr>
              <a:t>Balanced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6 Activity Classes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096512"/>
            <a:ext cx="384048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1. WALKING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2. WALKING_UPSTAIRS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3. WALKING_DOWNSTAIRS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4. SITTING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5. STANDING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</a:rPr>
              <a:t>6. LAYING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Experimental Setup — Infrastructure &amp;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E91"/>
                </a:solidFill>
              </a:rPr>
              <a:t>Talha  |  HAR — Big Data Analytics Module 2  |  Slide 3   [Course Project + Project Work]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3931920" cy="338328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3931920" cy="41148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7" name="Text 5"/>
          <p:cNvSpPr/>
          <p:nvPr/>
        </p:nvSpPr>
        <p:spPr>
          <a:xfrm>
            <a:off x="502920" y="80467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⚙  Computing Environment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36118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Platform: Kaggle Notebook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RAM: 30 GB available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CPU: 4 Cores 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Storage: Google Drive (via gdown)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OS: Ubuntu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3931920" cy="338328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04672"/>
            <a:ext cx="3931920" cy="411480"/>
          </a:xfrm>
          <a:prstGeom prst="rect">
            <a:avLst/>
          </a:prstGeom>
          <a:solidFill>
            <a:srgbClr val="243D5C"/>
          </a:solidFill>
        </p:spPr>
      </p:sp>
      <p:sp>
        <p:nvSpPr>
          <p:cNvPr id="11" name="Text 9"/>
          <p:cNvSpPr/>
          <p:nvPr/>
        </p:nvSpPr>
        <p:spPr>
          <a:xfrm>
            <a:off x="4800600" y="804672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🗂  Software Stack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1280160"/>
            <a:ext cx="36118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Python 3.12.12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PySpark 4.0.2 </a:t>
            </a:r>
            <a:endParaRPr lang="en-US" sz="1100" dirty="0">
              <a:solidFill>
                <a:srgbClr val="1A2E4A"/>
              </a:solidFill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Pandas 2.3.3 / NumPy 2.0.2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Matplotlib 3.10.0 / Seaborn 0.13.2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Spark driver memory: 8 GB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A2E4A"/>
                </a:solidFill>
              </a:rPr>
              <a:t>Shuffle partitions: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27939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</a:rPr>
              <a:t>Data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553712"/>
            <a:ext cx="1325880" cy="320040"/>
          </a:xfrm>
          <a:prstGeom prst="rect">
            <a:avLst/>
          </a:prstGeom>
          <a:solidFill>
            <a:srgbClr val="D8E4ED"/>
          </a:solidFill>
        </p:spPr>
      </p:sp>
      <p:sp>
        <p:nvSpPr>
          <p:cNvPr id="15" name="Text 13"/>
          <p:cNvSpPr/>
          <p:nvPr/>
        </p:nvSpPr>
        <p:spPr>
          <a:xfrm>
            <a:off x="365760" y="4553712"/>
            <a:ext cx="1325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4A"/>
                </a:solidFill>
              </a:rPr>
              <a:t>Raw .txt Files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91640" y="4722876"/>
            <a:ext cx="13716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4553712"/>
            <a:ext cx="1325880" cy="320040"/>
          </a:xfrm>
          <a:prstGeom prst="rect">
            <a:avLst/>
          </a:prstGeom>
          <a:solidFill>
            <a:srgbClr val="7FB3D3"/>
          </a:solidFill>
        </p:spPr>
      </p:sp>
      <p:sp>
        <p:nvSpPr>
          <p:cNvPr id="18" name="Text 16"/>
          <p:cNvSpPr/>
          <p:nvPr/>
        </p:nvSpPr>
        <p:spPr>
          <a:xfrm>
            <a:off x="1828800" y="4553712"/>
            <a:ext cx="1325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4A"/>
                </a:solidFill>
              </a:rPr>
              <a:t>PySpark Read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54680" y="4722876"/>
            <a:ext cx="13716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4553712"/>
            <a:ext cx="1325880" cy="320040"/>
          </a:xfrm>
          <a:prstGeom prst="rect">
            <a:avLst/>
          </a:prstGeom>
          <a:solidFill>
            <a:srgbClr val="7FB3D3"/>
          </a:solidFill>
        </p:spPr>
      </p:sp>
      <p:sp>
        <p:nvSpPr>
          <p:cNvPr id="21" name="Text 19"/>
          <p:cNvSpPr/>
          <p:nvPr/>
        </p:nvSpPr>
        <p:spPr>
          <a:xfrm>
            <a:off x="3291840" y="4553712"/>
            <a:ext cx="1325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4A"/>
                </a:solidFill>
              </a:rPr>
              <a:t>Row-Index Join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17720" y="4722876"/>
            <a:ext cx="13716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4553712"/>
            <a:ext cx="1325880" cy="320040"/>
          </a:xfrm>
          <a:prstGeom prst="rect">
            <a:avLst/>
          </a:prstGeom>
          <a:solidFill>
            <a:srgbClr val="BDD9EE"/>
          </a:solidFill>
        </p:spPr>
      </p:sp>
      <p:sp>
        <p:nvSpPr>
          <p:cNvPr id="24" name="Text 22"/>
          <p:cNvSpPr/>
          <p:nvPr/>
        </p:nvSpPr>
        <p:spPr>
          <a:xfrm>
            <a:off x="4754880" y="4553712"/>
            <a:ext cx="1325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4A"/>
                </a:solidFill>
              </a:rPr>
              <a:t>VectorAssembler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80760" y="4722876"/>
            <a:ext cx="13716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553712"/>
            <a:ext cx="1325880" cy="320040"/>
          </a:xfrm>
          <a:prstGeom prst="rect">
            <a:avLst/>
          </a:prstGeom>
          <a:solidFill>
            <a:srgbClr val="7FB3D3"/>
          </a:solidFill>
        </p:spPr>
      </p:sp>
      <p:sp>
        <p:nvSpPr>
          <p:cNvPr id="27" name="Text 25"/>
          <p:cNvSpPr/>
          <p:nvPr/>
        </p:nvSpPr>
        <p:spPr>
          <a:xfrm>
            <a:off x="6217920" y="4553712"/>
            <a:ext cx="1325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4A"/>
                </a:solidFill>
              </a:rPr>
              <a:t>StandardScaler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543800" y="4722876"/>
            <a:ext cx="13716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0" y="4553712"/>
            <a:ext cx="1325880" cy="320040"/>
          </a:xfrm>
          <a:prstGeom prst="rect">
            <a:avLst/>
          </a:prstGeom>
          <a:solidFill>
            <a:srgbClr val="E8743B"/>
          </a:solidFill>
        </p:spPr>
      </p:sp>
      <p:sp>
        <p:nvSpPr>
          <p:cNvPr id="30" name="Text 28"/>
          <p:cNvSpPr/>
          <p:nvPr/>
        </p:nvSpPr>
        <p:spPr>
          <a:xfrm>
            <a:off x="7680960" y="4553712"/>
            <a:ext cx="1325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ML Train/Predict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Exploratory Data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E91"/>
                </a:solidFill>
              </a:rPr>
              <a:t>Talha  |  HAR — Big Data Analytics Module 2  |  Slide 4   [Course Project + Project Work]</a:t>
            </a:r>
            <a:endParaRPr lang="en-US" sz="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777240"/>
          <a:ext cx="4754880" cy="3640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303520" y="804672"/>
            <a:ext cx="3474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Key Observations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03520" y="1151890"/>
            <a:ext cx="3474720" cy="325183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40680" y="1207135"/>
            <a:ext cx="3200400" cy="29991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1A2E4A"/>
                </a:solidFill>
              </a:rPr>
              <a:t>Classes are well-balanced (986–1407 samples each)</a:t>
            </a:r>
            <a:endParaRPr lang="en-US" sz="10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1A2E4A"/>
                </a:solidFill>
              </a:rPr>
              <a:t>Static activities (Sitting, Standing, Laying) show distinct body acceleration patterns</a:t>
            </a:r>
            <a:endParaRPr lang="en-US" sz="10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1A2E4A"/>
                </a:solidFill>
              </a:rPr>
              <a:t>Dynamic activities (Walking, Up, Down) overlap more in feature space</a:t>
            </a:r>
            <a:endParaRPr lang="en-US" sz="10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50" dirty="0">
                <a:solidFill>
                  <a:srgbClr val="1A2E4A"/>
                </a:solidFill>
              </a:rPr>
              <a:t>3-fold train/test split used for cross-validation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Pre-processing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E91"/>
                </a:solidFill>
              </a:rPr>
              <a:t>Talha  |  HAR — Big Data Analytics Module 2  |  Slide 5   [Course Project + Project Work]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697480" cy="18745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502920" cy="187452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7" name="Text 5"/>
          <p:cNvSpPr/>
          <p:nvPr/>
        </p:nvSpPr>
        <p:spPr>
          <a:xfrm>
            <a:off x="365760" y="804672"/>
            <a:ext cx="50292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43B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877824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Data Ingestion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2057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4A"/>
                </a:solidFill>
              </a:rPr>
              <a:t>Read X_train.txt / X_test.txt with spark.read.text(), split whitespace-delimited rows into 561 typed columns. Labels loaded from y_train.txt / y_test.txt.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804672"/>
            <a:ext cx="2697480" cy="18745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804672"/>
            <a:ext cx="502920" cy="187452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12" name="Text 10"/>
          <p:cNvSpPr/>
          <p:nvPr/>
        </p:nvSpPr>
        <p:spPr>
          <a:xfrm>
            <a:off x="3291840" y="804672"/>
            <a:ext cx="50292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43B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877824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Row-Index Join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0" y="1216152"/>
            <a:ext cx="2057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4A"/>
                </a:solidFill>
              </a:rPr>
              <a:t>PySpark has no built-in row number join. Used rdd.zipWithIndex() to add a row_id, then joined features + labels on that key and dropped the key column.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804672"/>
            <a:ext cx="2697480" cy="18745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804672"/>
            <a:ext cx="502920" cy="187452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17" name="Text 15"/>
          <p:cNvSpPr/>
          <p:nvPr/>
        </p:nvSpPr>
        <p:spPr>
          <a:xfrm>
            <a:off x="6217920" y="804672"/>
            <a:ext cx="50292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43B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877824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VectorAssembler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0" y="1216152"/>
            <a:ext cx="2057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4A"/>
                </a:solidFill>
              </a:rPr>
              <a:t>MLlib requires a single 'features' vector column. VectorAssembler packs all 561 feature columns into a DenseVector per row.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862072"/>
            <a:ext cx="2697480" cy="18745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62072"/>
            <a:ext cx="502920" cy="187452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22" name="Text 20"/>
          <p:cNvSpPr/>
          <p:nvPr/>
        </p:nvSpPr>
        <p:spPr>
          <a:xfrm>
            <a:off x="365760" y="2862072"/>
            <a:ext cx="50292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43B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935224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StandardScaler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3273552"/>
            <a:ext cx="2057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4A"/>
                </a:solidFill>
              </a:rPr>
              <a:t>Applied StandardScaler (mean=0, std=1) fitted on train set only. Prevents data leakage: test set transformed using training statistics.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862072"/>
            <a:ext cx="2697480" cy="18745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862072"/>
            <a:ext cx="502920" cy="1874520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27" name="Text 25"/>
          <p:cNvSpPr/>
          <p:nvPr/>
        </p:nvSpPr>
        <p:spPr>
          <a:xfrm>
            <a:off x="3291840" y="2862072"/>
            <a:ext cx="50292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43B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2935224"/>
            <a:ext cx="2057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</a:rPr>
              <a:t>Caching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0" y="3273552"/>
            <a:ext cx="2057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4A"/>
                </a:solidFill>
              </a:rPr>
              <a:t>train_final and test_final DataFrames cached in memory. Avoids redundant re-computation across 3 (course) + 3 (project) algorithm evaluations.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ML Algorithms — Course Project  [assessed for Course]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E91"/>
                </a:solidFill>
              </a:rPr>
              <a:t>Talha  |  HAR — Big Data Analytics Module 2  |  Slide 6   [COURSE PROJECT]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040880" y="749808"/>
            <a:ext cx="1828800" cy="329184"/>
          </a:xfrm>
          <a:prstGeom prst="rect">
            <a:avLst/>
          </a:prstGeom>
          <a:solidFill>
            <a:srgbClr val="E8743B"/>
          </a:solidFill>
        </p:spPr>
      </p:sp>
      <p:sp>
        <p:nvSpPr>
          <p:cNvPr id="6" name="Text 4"/>
          <p:cNvSpPr/>
          <p:nvPr/>
        </p:nvSpPr>
        <p:spPr>
          <a:xfrm>
            <a:off x="7040880" y="7498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COURSE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841248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52144"/>
            <a:ext cx="109728" cy="1097280"/>
          </a:xfrm>
          <a:prstGeom prst="rect">
            <a:avLst/>
          </a:prstGeom>
          <a:solidFill>
            <a:srgbClr val="1A6B3C"/>
          </a:solidFill>
        </p:spPr>
      </p:sp>
      <p:sp>
        <p:nvSpPr>
          <p:cNvPr id="9" name="Text 7"/>
          <p:cNvSpPr/>
          <p:nvPr/>
        </p:nvSpPr>
        <p:spPr>
          <a:xfrm>
            <a:off x="566928" y="1225296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536192"/>
            <a:ext cx="3840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1"/>
                </a:solidFill>
              </a:rPr>
              <a:t>Default: numTrees=50, maxDepth=10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1746504"/>
            <a:ext cx="43891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1"/>
                </a:solidFill>
              </a:rPr>
              <a:t>Tuning: Grid: numTrees ∈ {20,50,100}, maxDepth ∈ {5,10}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1243584"/>
            <a:ext cx="3840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A2E4A"/>
                </a:solidFill>
              </a:rPr>
              <a:t>Ensemble of decision trees — naturally multiclass, robust to overfitting, feature importance available.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86584"/>
            <a:ext cx="841248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86584"/>
            <a:ext cx="109728" cy="1097280"/>
          </a:xfrm>
          <a:prstGeom prst="rect">
            <a:avLst/>
          </a:prstGeom>
          <a:solidFill>
            <a:srgbClr val="1A4A6B"/>
          </a:solidFill>
        </p:spPr>
      </p:sp>
      <p:sp>
        <p:nvSpPr>
          <p:cNvPr id="15" name="Text 13"/>
          <p:cNvSpPr/>
          <p:nvPr/>
        </p:nvSpPr>
        <p:spPr>
          <a:xfrm>
            <a:off x="566928" y="2459736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770632"/>
            <a:ext cx="3840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1"/>
                </a:solidFill>
              </a:rPr>
              <a:t>Default: maxIter=100, regParam=0.01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2980944"/>
            <a:ext cx="43891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1"/>
                </a:solidFill>
              </a:rPr>
              <a:t>Tuning: Grid: regParam ∈ {0.001,0.01,0.1}, maxIter ∈ {50,100}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478024"/>
            <a:ext cx="3840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A2E4A"/>
                </a:solidFill>
              </a:rPr>
              <a:t>Multinomial LR — linear decision boundary, fast training, strong baseline for high-dimensional data.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841248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21024"/>
            <a:ext cx="109728" cy="1097280"/>
          </a:xfrm>
          <a:prstGeom prst="rect">
            <a:avLst/>
          </a:prstGeom>
          <a:solidFill>
            <a:srgbClr val="6B1A1A"/>
          </a:solidFill>
        </p:spPr>
      </p:sp>
      <p:sp>
        <p:nvSpPr>
          <p:cNvPr id="21" name="Text 19"/>
          <p:cNvSpPr/>
          <p:nvPr/>
        </p:nvSpPr>
        <p:spPr>
          <a:xfrm>
            <a:off x="566928" y="3694176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Gradient Boosted Trees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4005072"/>
            <a:ext cx="384048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1"/>
                </a:solidFill>
              </a:rPr>
              <a:t>Default: maxIter=20, maxDepth=5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4215384"/>
            <a:ext cx="43891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1"/>
                </a:solidFill>
              </a:rPr>
              <a:t>Tuning: Grid: maxIter ∈ {10,20}, maxDepth ∈ {3,5}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3712464"/>
            <a:ext cx="3840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A2E4A"/>
                </a:solidFill>
              </a:rPr>
              <a:t>Spark GBT only supports binary → wrapped in OneVsRest (6 binary classifiers, one per class).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— Course Project  [assessed for Course]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E91"/>
                </a:solidFill>
              </a:rPr>
              <a:t>Talha  |  HAR — Big Data Analytics Module 2  |  Slide 7   [COURSE PROJECT]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040880" y="749808"/>
            <a:ext cx="1828800" cy="329184"/>
          </a:xfrm>
          <a:prstGeom prst="rect">
            <a:avLst/>
          </a:prstGeom>
          <a:solidFill>
            <a:srgbClr val="E8743B"/>
          </a:solidFill>
        </p:spPr>
      </p:sp>
      <p:sp>
        <p:nvSpPr>
          <p:cNvPr id="6" name="Text 4"/>
          <p:cNvSpPr/>
          <p:nvPr/>
        </p:nvSpPr>
        <p:spPr>
          <a:xfrm>
            <a:off x="7040880" y="7498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COURSE PROJECT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804672"/>
          <a:ext cx="53035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852160" y="822960"/>
          <a:ext cx="3017520" cy="3200400"/>
        </p:xfrm>
        <a:graphic>
          <a:graphicData uri="http://schemas.openxmlformats.org/drawingml/2006/table">
            <a:tbl>
              <a:tblPr/>
              <a:tblGrid>
                <a:gridCol w="1600200"/>
                <a:gridCol w="704088"/>
                <a:gridCol w="713232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Random Forest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0.9258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0.9254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RF (tuned)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0.9385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0.9382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Logistic Regression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0.9612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0.9610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LR (tuned)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52"/>
                          </a:solidFill>
                        </a:rPr>
                        <a:t>0.9653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52"/>
                          </a:solidFill>
                        </a:rPr>
                        <a:t>0.9651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GBT (OvR)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0.9397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0.9393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GBT (tuned)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0.9442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0.9439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206240"/>
            <a:ext cx="8412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52"/>
                </a:solidFill>
              </a:rPr>
              <a:t>★  Best: Logistic Regression (tuned) — Acc 96.53%, F1 96.51%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D5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ML Algorithms — Project Work  [assessed for Project Work]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E91"/>
                </a:solidFill>
              </a:rPr>
              <a:t>Talha  |  HAR — Big Data Analytics Module 2  |  Slide 8   [PROJECT WORK]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0" y="749808"/>
            <a:ext cx="2011680" cy="329184"/>
          </a:xfrm>
          <a:prstGeom prst="rect">
            <a:avLst/>
          </a:prstGeom>
          <a:solidFill>
            <a:srgbClr val="5B2D8E"/>
          </a:solidFill>
        </p:spPr>
      </p:sp>
      <p:sp>
        <p:nvSpPr>
          <p:cNvPr id="6" name="Text 4"/>
          <p:cNvSpPr/>
          <p:nvPr/>
        </p:nvSpPr>
        <p:spPr>
          <a:xfrm>
            <a:off x="6858000" y="74980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PROJECT WORK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841248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52144"/>
            <a:ext cx="109728" cy="1097280"/>
          </a:xfrm>
          <a:prstGeom prst="rect">
            <a:avLst/>
          </a:prstGeom>
          <a:solidFill>
            <a:srgbClr val="2D6B4A"/>
          </a:solidFill>
        </p:spPr>
      </p:sp>
      <p:sp>
        <p:nvSpPr>
          <p:cNvPr id="9" name="Text 7"/>
          <p:cNvSpPr/>
          <p:nvPr/>
        </p:nvSpPr>
        <p:spPr>
          <a:xfrm>
            <a:off x="566928" y="122529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536192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1"/>
                </a:solidFill>
              </a:rPr>
              <a:t>Default: maxDepth=10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746504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1"/>
                </a:solidFill>
              </a:rPr>
              <a:t>Tuning: Grid: maxDepth ∈ {5,10,15}, minInstancesPerNode ∈ {1,5}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1243584"/>
            <a:ext cx="3840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A2E4A"/>
                </a:solidFill>
              </a:rPr>
              <a:t>Single-tree baseline; interpretable structure; prone to overfitting at high depth but useful as a reference. Natively multiclass in Spark.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86584"/>
            <a:ext cx="841248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86584"/>
            <a:ext cx="109728" cy="1097280"/>
          </a:xfrm>
          <a:prstGeom prst="rect">
            <a:avLst/>
          </a:prstGeom>
          <a:solidFill>
            <a:srgbClr val="4A2D8E"/>
          </a:solidFill>
        </p:spPr>
      </p:sp>
      <p:sp>
        <p:nvSpPr>
          <p:cNvPr id="15" name="Text 13"/>
          <p:cNvSpPr/>
          <p:nvPr/>
        </p:nvSpPr>
        <p:spPr>
          <a:xfrm>
            <a:off x="566928" y="245973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Factorization Machines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770632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1"/>
                </a:solidFill>
              </a:rPr>
              <a:t>Default: maxIter=100, stepSize=0.001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2980944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1"/>
                </a:solidFill>
              </a:rPr>
              <a:t>Tuning: Grid: stepSize ∈ {0.001, 0.01}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478024"/>
            <a:ext cx="3840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A2E4A"/>
                </a:solidFill>
              </a:rPr>
              <a:t>Spark FMClassifier supports only binary → wrapped in OneVsRest. Models pairwise feature interactions via latent factors — useful for sparse/high-dim data.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841248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21024"/>
            <a:ext cx="109728" cy="1097280"/>
          </a:xfrm>
          <a:prstGeom prst="rect">
            <a:avLst/>
          </a:prstGeom>
          <a:solidFill>
            <a:srgbClr val="8E2D2D"/>
          </a:solidFill>
        </p:spPr>
      </p:sp>
      <p:sp>
        <p:nvSpPr>
          <p:cNvPr id="21" name="Text 19"/>
          <p:cNvSpPr/>
          <p:nvPr/>
        </p:nvSpPr>
        <p:spPr>
          <a:xfrm>
            <a:off x="566928" y="369417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Multilayer Perceptron (MLP)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4005072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1"/>
                </a:solidFill>
              </a:rPr>
              <a:t>Default: Layers [561→128→64→6], maxIter=100, stepSize=0.03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4215384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E91"/>
                </a:solidFill>
              </a:rPr>
              <a:t>Tuning: Grid: stepSize ∈ {0.03, 0.05}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3712464"/>
            <a:ext cx="3840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A2E4A"/>
                </a:solidFill>
              </a:rPr>
              <a:t>Labels re-indexed to 0–5 (Spark MLP requires). Architecture: 561 inputs → 128 → 64 → 6 outputs. Solver: L-BFGS. Sigmoid/softmax activations.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43D5C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Results — Project Work  [assessed for Project Work]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E91"/>
                </a:solidFill>
              </a:rPr>
              <a:t>Talha  |  HAR — Big Data Analytics Module 2  |  Slide 9   [PROJECT WORK]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858000" y="749808"/>
            <a:ext cx="2011680" cy="329184"/>
          </a:xfrm>
          <a:prstGeom prst="rect">
            <a:avLst/>
          </a:prstGeom>
          <a:solidFill>
            <a:srgbClr val="5B2D8E"/>
          </a:solidFill>
        </p:spPr>
      </p:sp>
      <p:sp>
        <p:nvSpPr>
          <p:cNvPr id="6" name="Text 4"/>
          <p:cNvSpPr/>
          <p:nvPr/>
        </p:nvSpPr>
        <p:spPr>
          <a:xfrm>
            <a:off x="6858000" y="74980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PROJECT WORK</a:t>
            </a:r>
            <a:endParaRPr lang="en-US" sz="8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804672"/>
          <a:ext cx="530352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852160" y="822960"/>
          <a:ext cx="3017520" cy="3200400"/>
        </p:xfrm>
        <a:graphic>
          <a:graphicData uri="http://schemas.openxmlformats.org/drawingml/2006/table">
            <a:tbl>
              <a:tblPr/>
              <a:tblGrid>
                <a:gridCol w="1600200"/>
                <a:gridCol w="704088"/>
                <a:gridCol w="713232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Decision Tree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0.8738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0.8731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DT (tuned)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0.8875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0.8869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FM (OvR)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0.8912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0.8905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FM (tuned)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0.9047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0.9041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MLP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0.9521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0.9518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2E4A"/>
                          </a:solidFill>
                        </a:rPr>
                        <a:t>MLP (tuned)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52"/>
                          </a:solidFill>
                        </a:rPr>
                        <a:t>0.9588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52"/>
                          </a:solidFill>
                        </a:rPr>
                        <a:t>0.9584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206240"/>
            <a:ext cx="8412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52"/>
                </a:solidFill>
              </a:rPr>
              <a:t>★  Best: MLP (tuned) — Acc 95.88%, F1 95.84%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Discussion — Comparison Across All 6 Algorithms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892040"/>
            <a:ext cx="85953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E91"/>
                </a:solidFill>
              </a:rPr>
              <a:t>Talha  |  HAR — Big Data Analytics Module 2  |  Slide 10   [Course Project + Project Work]</a:t>
            </a:r>
            <a:endParaRPr lang="en-US" sz="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804672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804672"/>
            <a:ext cx="32918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1225296"/>
            <a:ext cx="237744" cy="237744"/>
          </a:xfrm>
          <a:prstGeom prst="ellipse">
            <a:avLst/>
          </a:prstGeom>
          <a:solidFill>
            <a:srgbClr val="E8743B"/>
          </a:solidFill>
        </p:spPr>
      </p:sp>
      <p:sp>
        <p:nvSpPr>
          <p:cNvPr id="8" name="Text 5"/>
          <p:cNvSpPr/>
          <p:nvPr/>
        </p:nvSpPr>
        <p:spPr>
          <a:xfrm>
            <a:off x="5907024" y="118872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LR tops Course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07024" y="1444752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en-US" sz="900" dirty="0"/>
              <a:t>The pre-extracted HAR features already capture temporal patterns, making a linear decision boundary surprisingly effective.</a:t>
            </a:r>
            <a:endParaRPr lang="en-US" alt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956816"/>
            <a:ext cx="237744" cy="237744"/>
          </a:xfrm>
          <a:prstGeom prst="ellipse">
            <a:avLst/>
          </a:prstGeom>
          <a:solidFill>
            <a:srgbClr val="E8743B"/>
          </a:solidFill>
        </p:spPr>
      </p:sp>
      <p:sp>
        <p:nvSpPr>
          <p:cNvPr id="11" name="Text 8"/>
          <p:cNvSpPr/>
          <p:nvPr/>
        </p:nvSpPr>
        <p:spPr>
          <a:xfrm>
            <a:off x="5907024" y="192024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MLP best overall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07024" y="2176272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E4A"/>
                </a:solidFill>
              </a:rPr>
              <a:t>Non-linear learned representation edges out LR by 0.5%. Architecture: 561→128→64→6 with L-BFGS.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7840" y="2688336"/>
            <a:ext cx="237744" cy="237744"/>
          </a:xfrm>
          <a:prstGeom prst="ellipse">
            <a:avLst/>
          </a:prstGeom>
          <a:solidFill>
            <a:srgbClr val="E8743B"/>
          </a:solidFill>
        </p:spPr>
      </p:sp>
      <p:sp>
        <p:nvSpPr>
          <p:cNvPr id="14" name="Text 11"/>
          <p:cNvSpPr/>
          <p:nvPr/>
        </p:nvSpPr>
        <p:spPr>
          <a:xfrm>
            <a:off x="5907024" y="265176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DT weakest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07024" y="2907792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E4A"/>
                </a:solidFill>
              </a:rPr>
              <a:t>Single tree (88.75%) shows high variance — forest ensemble (RF) corrects this substantially.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3419856"/>
            <a:ext cx="237744" cy="237744"/>
          </a:xfrm>
          <a:prstGeom prst="ellipse">
            <a:avLst/>
          </a:prstGeom>
          <a:solidFill>
            <a:srgbClr val="E8743B"/>
          </a:solidFill>
        </p:spPr>
      </p:sp>
      <p:sp>
        <p:nvSpPr>
          <p:cNvPr id="17" name="Text 14"/>
          <p:cNvSpPr/>
          <p:nvPr/>
        </p:nvSpPr>
        <p:spPr>
          <a:xfrm>
            <a:off x="5907024" y="338328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FM competitive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07024" y="3639312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E4A"/>
                </a:solidFill>
              </a:rPr>
              <a:t>Factorization Machines reach 90.47% capturing pairwise interactions; slower training than LR.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77840" y="4151376"/>
            <a:ext cx="237744" cy="237744"/>
          </a:xfrm>
          <a:prstGeom prst="ellipse">
            <a:avLst/>
          </a:prstGeom>
          <a:solidFill>
            <a:srgbClr val="E8743B"/>
          </a:solidFill>
        </p:spPr>
      </p:sp>
      <p:sp>
        <p:nvSpPr>
          <p:cNvPr id="20" name="Text 17"/>
          <p:cNvSpPr/>
          <p:nvPr/>
        </p:nvSpPr>
        <p:spPr>
          <a:xfrm>
            <a:off x="5907024" y="4114800"/>
            <a:ext cx="2926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</a:rPr>
              <a:t>Tuning always helps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07024" y="4370832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E4A"/>
                </a:solidFill>
              </a:rPr>
              <a:t>3-fold CV grid search gave consistent +0.5–1.5% accuracy gain across all algorithms.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1A2E4A"/>
          </a:solidFill>
        </p:spPr>
      </p:sp>
      <p:sp>
        <p:nvSpPr>
          <p:cNvPr id="23" name="Text 20"/>
          <p:cNvSpPr/>
          <p:nvPr/>
        </p:nvSpPr>
        <p:spPr>
          <a:xfrm>
            <a:off x="502920" y="4142232"/>
            <a:ext cx="813816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D9EE"/>
                </a:solidFill>
              </a:rPr>
              <a:t>Both notebooks are independent &amp; executable. Shared: data loading, EDA, pre-processing.  Distinct: algorithms evaluated.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731520"/>
            <a:ext cx="1280160" cy="201168"/>
          </a:xfrm>
          <a:prstGeom prst="rect">
            <a:avLst/>
          </a:prstGeom>
          <a:solidFill>
            <a:srgbClr val="E8743B"/>
          </a:solidFill>
        </p:spPr>
      </p:sp>
      <p:sp>
        <p:nvSpPr>
          <p:cNvPr id="5" name="Text 3"/>
          <p:cNvSpPr/>
          <p:nvPr/>
        </p:nvSpPr>
        <p:spPr>
          <a:xfrm>
            <a:off x="548640" y="960120"/>
            <a:ext cx="5486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77724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BDD9EE"/>
                </a:solidFill>
              </a:rPr>
              <a:t>UCI HAR: 10,299 patterns × 561 features — meets all project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BDD9EE"/>
                </a:solidFill>
              </a:rPr>
              <a:t>Course Project:  RF · LR · GBT — best accuracy 96.53% (LR tuned)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BDD9EE"/>
                </a:solidFill>
              </a:rPr>
              <a:t>Project Work:  DT · FM · MLP — best accuracy 95.88% (MLP tuned)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BDD9EE"/>
                </a:solidFill>
              </a:rPr>
              <a:t>PySpark MLlib + 3-fold CV consistently improved all models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BDD9EE"/>
                </a:solidFill>
              </a:rPr>
              <a:t>Pre-extracted features favour linear methods; MLP still edges 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029200" cy="685800"/>
          </a:xfrm>
          <a:prstGeom prst="rect">
            <a:avLst/>
          </a:prstGeom>
          <a:solidFill>
            <a:srgbClr val="243D5C"/>
          </a:solidFill>
          <a:ln w="12700">
            <a:solidFill>
              <a:srgbClr val="7FB3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14800"/>
            <a:ext cx="5029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Questions?  </a:t>
            </a:r>
            <a:r>
              <a:rPr lang="en-US" sz="1100" dirty="0">
                <a:solidFill>
                  <a:srgbClr val="BDD9EE"/>
                </a:solidFill>
              </a:rPr>
              <a:t>Talha  —  Big Data Analytics Module 2  —  2025/26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6191</Words>
  <Application>WPS Presentation</Application>
  <PresentationFormat>On-screen Show (16:9)</PresentationFormat>
  <Paragraphs>330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 Activity Recognition — BDA Module 2</dc:title>
  <dc:creator>Talha</dc:creator>
  <dc:subject>PptxGenJS Presentation</dc:subject>
  <cp:lastModifiedBy>M Talha Sohail</cp:lastModifiedBy>
  <cp:revision>2</cp:revision>
  <dcterms:created xsi:type="dcterms:W3CDTF">2026-04-21T06:31:00Z</dcterms:created>
  <dcterms:modified xsi:type="dcterms:W3CDTF">2026-04-21T10:16:48Z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320A4A805C33496A87D44AF6C3F2AF26_12</vt:lpwstr>
  </property>
</Properties>
</file>